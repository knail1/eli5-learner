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t>Revenue ($M)</a:t>
            </a:r>
          </a:p>
        </c:rich>
      </c:tx>
    </c:title>
    <c:plotArea>
      <c:barChart>
        <c:barDir val="col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41</c:v>
                </c:pt>
                <c:pt idx="2">
                  <c:v>46</c:v>
                </c:pt>
                <c:pt idx="3">
                  <c:v>49</c:v>
                </c:pt>
              </c:numCache>
            </c:numRef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{0}" type="doc">
      <dgm:prSet/>
      <dgm:spPr/>
    </dgm:pt>
    <dgm:pt modelId="{1}">
      <dgm:prSet/>
      <dgm:spPr/>
      <dgm:t>
        <a:bodyPr/>
        <a:p>
          <a:r>
            <a:t>Plan</a:t>
          </a:r>
        </a:p>
      </dgm:t>
    </dgm:pt>
    <dgm:pt modelId="{2}">
      <dgm:prSet/>
      <dgm:spPr/>
      <dgm:t>
        <a:bodyPr/>
        <a:p>
          <a:r>
            <a:t>Build</a:t>
          </a:r>
        </a:p>
      </dgm:t>
    </dgm:pt>
    <dgm:pt modelId="{3}">
      <dgm:prSet/>
      <dgm:spPr/>
      <dgm:t>
        <a:bodyPr/>
        <a:p>
          <a:r>
            <a:t>Verify</a:t>
          </a:r>
        </a:p>
      </dgm:t>
    </dgm:pt>
    <dgm:pt modelId="{4}">
      <dgm:prSet/>
      <dgm:spPr/>
      <dgm:t>
        <a:bodyPr/>
        <a:p>
          <a:r>
            <a:t>Ship</a:t>
          </a:r>
        </a:p>
      </dgm:t>
    </dgm:pt>
  </dgm:ptLst>
</dgm:dataModel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Slide Image"/>
          <p:cNvSpPr/>
          <p:nvPr>
            <p:ph type="sldImg"/>
          </p:nvPr>
        </p:nvSpPr>
        <p:spPr/>
      </p:sp>
      <p:sp>
        <p:nvSpPr>
          <p:cNvPr id="48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everyone.</a:t>
            </a:r>
          </a:p>
          <a:p>
            <a:r>
              <a:rPr lang="en-US"/>
              <a:t>Keep the opening under two minutes.</a:t>
            </a:r>
          </a:p>
        </p:txBody>
      </p:sp>
      <p:sp>
        <p:nvSpPr>
          <p:cNvPr id="49" name="Slide Number"/>
          <p:cNvSpPr/>
          <p:nvPr>
            <p:ph type="sldNum" idx="5"/>
          </p:nvPr>
        </p:nvSpPr>
        <p:spPr/>
        <p:txBody>
          <a:bodyPr/>
          <a:lstStyle/>
          <a:p>
            <a:fld id="{00000000-0000-0000-0000-000000000001}" type="slidenum">
              <a:t>1</a:t>
            </a:fld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lide Image"/>
          <p:cNvSpPr/>
          <p:nvPr>
            <p:ph type="sldImg"/>
          </p:nvPr>
        </p:nvSpPr>
        <p:spPr/>
      </p:sp>
      <p:sp>
        <p:nvSpPr>
          <p:cNvPr id="51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that churn is flat.</a:t>
            </a:r>
          </a:p>
          <a:p>
            <a:r>
              <a:rPr lang="en-US"/>
              <a:t>Renewals carried the quarter.</a:t>
            </a:r>
          </a:p>
        </p:txBody>
      </p:sp>
      <p:sp>
        <p:nvSpPr>
          <p:cNvPr id="52" name="Slide Number"/>
          <p:cNvSpPr/>
          <p:nvPr>
            <p:ph type="sldNum" idx="5"/>
          </p:nvPr>
        </p:nvSpPr>
        <p:spPr/>
        <p:txBody>
          <a:bodyPr/>
          <a:lstStyle/>
          <a:p>
            <a:fld id="{00000000-0000-0000-0000-000000000001}" type="slidenum">
              <a:t>3</a:t>
            </a:fld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" name="Slide Image"/>
          <p:cNvSpPr/>
          <p:nvPr>
            <p:ph type="sldImg"/>
          </p:nvPr>
        </p:nvSpPr>
        <p:spPr/>
      </p:sp>
      <p:sp>
        <p:nvSpPr>
          <p:cNvPr id="54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three services left to right.</a:t>
            </a:r>
          </a:p>
        </p:txBody>
      </p:sp>
      <p:sp>
        <p:nvSpPr>
          <p:cNvPr id="55" name="Slide Number"/>
          <p:cNvSpPr/>
          <p:nvPr>
            <p:ph type="sldNum" idx="5"/>
          </p:nvPr>
        </p:nvSpPr>
        <p:spPr/>
        <p:txBody>
          <a:bodyPr/>
          <a:lstStyle/>
          <a:p>
            <a:fld id="{00000000-0000-0000-0000-000000000001}" type="slidenum">
              <a:t>9</a:t>
            </a:fld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Slide Image"/>
          <p:cNvSpPr/>
          <p:nvPr>
            <p:ph type="sldImg"/>
          </p:nvPr>
        </p:nvSpPr>
        <p:spPr/>
      </p:sp>
      <p:sp>
        <p:nvSpPr>
          <p:cNvPr id="57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Ask for volunteers.</a:t>
            </a:r>
          </a:p>
        </p:txBody>
      </p:sp>
      <p:sp>
        <p:nvSpPr>
          <p:cNvPr id="58" name="Slide Number"/>
          <p:cNvSpPr/>
          <p:nvPr>
            <p:ph type="sldNum" idx="5"/>
          </p:nvPr>
        </p:nvSpPr>
        <p:spPr/>
        <p:txBody>
          <a:bodyPr/>
          <a:lstStyle/>
          <a:p>
            <a:fld id="{00000000-0000-0000-0000-000000000001}" type="slidenum">
              <a:t>12</a:t>
            </a:fld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"/>
          <p:cNvSpPr/>
          <p:nvPr>
            <p:ph type="title"/>
          </p:nvPr>
        </p:nvSpPr>
        <p:spPr>
          <a:xfrm>
            <a:off x="457200" y="274320"/>
            <a:ext cx="7315200" cy="914400"/>
          </a:xfrm>
        </p:spPr>
        <p:txBody>
          <a:bodyPr/>
          <a:lstStyle/>
        </p:txBody>
      </p:sp>
      <p:sp>
        <p:nvSpPr>
          <p:cNvPr id="12" name="Subtitle"/>
          <p:cNvSpPr/>
          <p:nvPr>
            <p:ph type="subTitle" idx="1"/>
          </p:nvPr>
        </p:nvSpPr>
        <p:spPr>
          <a:xfrm>
            <a:off x="457200" y="1828800"/>
            <a:ext cx="7315200" cy="914400"/>
          </a:xfrm>
        </p:spPr>
        <p:txBody>
          <a:bodyPr/>
          <a:lstStyle/>
        </p:txBody>
      </p:sp>
      <p:sp>
        <p:nvSpPr>
          <p:cNvPr id="13" name="Content"/>
          <p:cNvSpPr/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
</file>

<file path=ppt/slides/_rels/slide3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Logo" Type="http://schemas.openxmlformats.org/officeDocument/2006/relationships/image" Target="../media/logo.png"/><Relationship Id="rIdN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Logo" Type="http://schemas.openxmlformats.org/officeDocument/2006/relationships/image" Target="../media/logo.png"/></Relationships>
</file>

<file path=ppt/slides/_rels/slide5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C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D" Type="http://schemas.openxmlformats.org/officeDocument/2006/relationships/image" Target="../media/diagram.png"/><Relationship Id="rIdN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Dm" Type="http://schemas.openxmlformats.org/officeDocument/2006/relationships/diagramData" Target="../diagrams/data1.xml"/></Relationships>
</file>

<file path=ppt/slides/_rels/slide12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"/>
          <p:cNvSpPr/>
          <p:nvPr>
            <p:ph type="ctrTitle"/>
          </p:nvPr>
        </p:nvSpPr>
        <p:spPr/>
        <p:txBody>
          <a:bodyPr/>
          <a:lstStyle/>
          <a:p>
            <a:r>
              <a:rPr lang="en-US"/>
              <a:t>Quarterly Review: Q3 2026</a:t>
            </a:r>
          </a:p>
        </p:txBody>
      </p:sp>
      <p:sp>
        <p:nvSpPr>
          <p:cNvPr id="12" name="Subtitle"/>
          <p:cNvSpPr/>
          <p:nvPr>
            <p:ph type="subTitle" idx="1"/>
          </p:nvPr>
        </p:nvSpPr>
        <p:spPr/>
        <p:txBody>
          <a:bodyPr/>
          <a:lstStyle/>
          <a:p>
            <a:r>
              <a:rPr lang="en-US"/>
              <a:t>Example Widgets Inc.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13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1}" type="slidenum"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5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Results</a:t>
            </a:r>
          </a:p>
          <a:p>
            <a:r>
              <a:rPr lang="en-US"/>
              <a:t>Revenue bridge</a:t>
            </a:r>
          </a:p>
          <a:p>
            <a:r>
              <a:rPr lang="en-US"/>
              <a:t>Outlook</a:t>
            </a:r>
          </a:p>
        </p:txBody>
      </p:sp>
      <p:pic>
        <p:nvPicPr>
          <p:cNvPr id="10" name="Picture" descr="Company 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229600" y="182880"/>
            <a:ext cx="365760" cy="365760"/>
          </a:xfrm>
          <a:prstGeom prst="rect">
            <a:avLst/>
          </a:prstGeom>
        </p:spPr>
      </p:pic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16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2}" type="slidenum">
              <a:t>2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Revenue bridge</a:t>
            </a:r>
          </a:p>
        </p:txBody>
      </p:sp>
      <p:sp>
        <p:nvSpPr>
          <p:cNvPr id="18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Net revenue up 12% YoY</a:t>
            </a:r>
          </a:p>
          <a:p>
            <a:pPr lvl="1"/>
            <a:r>
              <a:rPr lang="en-US"/>
              <a:t>Driven by enterprise renewals</a:t>
            </a:r>
          </a:p>
          <a:p>
            <a:pPr lvl="2"/>
            <a:r>
              <a:rPr lang="en-US"/>
              <a:t>Renewal rate reached 94%</a:t>
            </a:r>
          </a:p>
          <a:p>
            <a:r>
              <a:rPr lang="en-US"/>
              <a:t>Services revenue flat</a:t>
            </a:r>
          </a:p>
          <a:p>
            <a:pPr lvl="1"/>
            <a:r>
              <a:rPr lang="en-US"/>
              <a:t>Hardware margin improved</a:t>
            </a:r>
          </a:p>
        </p:txBody>
      </p:sp>
      <p:pic>
        <p:nvPicPr>
          <p:cNvPr id="10" name="Picture" descr="Company 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229600" y="182880"/>
            <a:ext cx="365760" cy="365760"/>
          </a:xfrm>
          <a:prstGeom prst="rect">
            <a:avLst/>
          </a:prstGeom>
        </p:spPr>
      </p:pic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19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3}" type="slidenum">
              <a:t>3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Research spend</a:t>
            </a:r>
          </a:p>
        </p:txBody>
      </p:sp>
      <p:sp>
        <p:nvSpPr>
          <p:cNvPr id="21" name="Body"/>
          <p:cNvSpPr/>
          <p:nvPr/>
        </p:nvSpPr>
        <p:spPr>
          <a:xfrm>
            <a:off x="457200" y="1371600"/>
            <a:ext cx="7315200" cy="914400"/>
          </a:xfrm>
        </p:spPr>
        <p:txBody>
          <a:bodyPr/>
          <a:lstStyle/>
          <a:p>
            <a:r>
              <a:rPr lang="en-US"/>
              <a:t>R&amp;D &lt;50% of operating expense</a:t>
            </a:r>
          </a:p>
          <a:p>
            <a:r>
              <a:rPr lang="en-US"/>
              <a:t>Revenue </a:t>
            </a:r>
            <a:r>
              <a:rPr lang="en-US" b="1"/>
              <a:t>grew</a:t>
            </a:r>
            <a:br/>
            <a:r>
              <a:rPr lang="en-US"/>
              <a:t>in </a:t>
            </a:r>
            <a:fld id="{00000000-0000-0000-0000-000000000009}" type="datetime1">
              <a:t>Q3</a:t>
            </a:fld>
            <a:r>
              <a:rPr lang="en-US"/>
              <a:t> as planned</a:t>
            </a:r>
          </a:p>
        </p:txBody>
      </p:sp>
      <p:pic>
        <p:nvPicPr>
          <p:cNvPr id="10" name="Picture" descr="Company 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8229600" y="182880"/>
            <a:ext cx="365760" cy="365760"/>
          </a:xfrm>
          <a:prstGeom prst="rect">
            <a:avLst/>
          </a:prstGeom>
        </p:spPr>
      </p:pic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22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4}" type="slidenum">
              <a:t>4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Regional results</a:t>
            </a:r>
          </a:p>
        </p:txBody>
      </p:sp>
      <p:graphicFrame>
        <p:nvGraphicFramePr>
          <p:cNvPr id="24" name="Frame"/>
          <p:cNvGraphicFramePr/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2000000"/>
                <a:gridCol w="2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</a:t>
                      </a:r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/>
                        <a:t>Total | all regions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25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5}" type="slidenum">
              <a:t>5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Revenue by quarter</a:t>
            </a:r>
          </a:p>
        </p:txBody>
      </p:sp>
      <p:graphicFrame>
        <p:nvGraphicFramePr>
          <p:cNvPr id="27" name="Frame"/>
          <p:cNvGraphicFramePr/>
          <p:nvPr/>
        </p:nvGraphicFramePr>
        <p:xfrm>
          <a:off x="914400" y="1371600"/>
          <a:ext cx="7315200" cy="2743200"/>
        </p:xfrm>
        <a:graphic>
          <a:graphicData uri="http://schemas.openxmlformats.org/drawingml/2006/chart">
            <c:chart xmlns:c="http://schemas.openxmlformats.org/drawingml/2006/chart" r:id="rIdC"/>
          </a:graphicData>
        </a:graphic>
      </p:graphicFrame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28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6}" type="slidenum">
              <a:t>6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Two teams</a:t>
            </a:r>
          </a:p>
        </p:txBody>
      </p:sp>
      <p:sp>
        <p:nvSpPr>
          <p:cNvPr id="30" name="Right"/>
          <p:cNvSpPr/>
          <p:nvPr/>
        </p:nvSpPr>
        <p:spPr>
          <a:xfrm>
            <a:off x="4572000" y="1371600"/>
            <a:ext cx="7315200" cy="914400"/>
          </a:xfrm>
        </p:spPr>
        <p:txBody>
          <a:bodyPr/>
          <a:lstStyle/>
          <a:p>
            <a:r>
              <a:rPr lang="en-US"/>
              <a:t>Platform team: shipped the billing rewrite</a:t>
            </a:r>
          </a:p>
        </p:txBody>
      </p:sp>
      <p:sp>
        <p:nvSpPr>
          <p:cNvPr id="31" name="Left"/>
          <p:cNvSpPr/>
          <p:nvPr/>
        </p:nvSpPr>
        <p:spPr>
          <a:xfrm>
            <a:off x="457200" y="1463040"/>
            <a:ext cx="7315200" cy="914400"/>
          </a:xfrm>
        </p:spPr>
        <p:txBody>
          <a:bodyPr/>
          <a:lstStyle/>
          <a:p>
            <a:r>
              <a:rPr lang="en-US"/>
              <a:t>Devices team: cut unit cost by 8%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32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7}" type="slidenum">
              <a:t>7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Backup: raw survey data</a:t>
            </a:r>
          </a:p>
        </p:txBody>
      </p:sp>
      <p:sp>
        <p:nvSpPr>
          <p:cNvPr id="34" name="Content"/>
          <p:cNvSpPr/>
          <p:nvPr>
            <p:ph idx="1"/>
          </p:nvPr>
        </p:nvSpPr>
        <p:spPr/>
        <p:txBody>
          <a:bodyPr/>
          <a:lstStyle/>
          <a:p>
            <a:r>
              <a:rPr lang="en-US"/>
              <a:t>Not for presentation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35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8}" type="slidenum">
              <a:t>8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Architecture</a:t>
            </a:r>
          </a:p>
        </p:txBody>
      </p:sp>
      <p:pic>
        <p:nvPicPr>
          <p:cNvPr id="37" name="Picture" descr="System architecture diagram"/>
          <p:cNvPicPr/>
          <p:nvPr/>
        </p:nvPicPr>
        <p:blipFill>
          <a:blip r:embed="rIdD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38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9}" type="slidenum">
              <a:t>9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Callout"/>
          <p:cNvSpPr/>
          <p:nvPr/>
        </p:nvSpPr>
        <p:spPr>
          <a:xfrm>
            <a:off x="914400" y="2743200"/>
            <a:ext cx="7315200" cy="914400"/>
          </a:xfrm>
        </p:spPr>
        <p:txBody>
          <a:bodyPr/>
          <a:lstStyle/>
          <a:p>
            <a:r>
              <a:rPr lang="en-US"/>
              <a:t>Questions welcome at any point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40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0}" type="slidenum">
              <a:t>10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Release process</a:t>
            </a:r>
          </a:p>
        </p:txBody>
      </p:sp>
      <p:graphicFrame>
        <p:nvGraphicFramePr>
          <p:cNvPr id="42" name="Frame"/>
          <p:cNvGraphicFramePr/>
          <p:nvPr/>
        </p:nvGraphicFramePr>
        <p:xfrm>
          <a:off x="914400" y="1371600"/>
          <a:ext cx="7315200" cy="2743200"/>
        </p:xfrm>
        <a:graphic>
          <a:graphicData uri="http://schemas.openxmlformats.org/drawingml/2006/diagram">
            <dgm:relIds xmlns:dgm="http://schemas.openxmlformats.org/drawingml/2006/diagram" r:dm="rIdDm" r:lo="rIdLo" r:qs="rIdQs" r:cs="rIdCs"/>
          </a:graphicData>
        </a:graphic>
      </p:graphicFrame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43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1}" type="slidenum">
              <a:t>11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45" name="Steps"/>
          <p:cNvSpPr/>
          <p:nvPr/>
        </p:nvSpPr>
        <p:spPr>
          <a:xfrm>
            <a:off x="457200" y="1371600"/>
            <a:ext cx="7315200" cy="914400"/>
          </a:xfrm>
        </p:spPr>
        <p:txBody>
          <a:bodyPr/>
          <a:lstStyle/>
          <a:p>
            <a:pPr>
              <a:buAutoNum type="arabicPeriod"/>
            </a:pPr>
            <a:r>
              <a:rPr lang="en-US"/>
              <a:t>Hire two support engineers</a:t>
            </a:r>
          </a:p>
          <a:p>
            <a:pPr>
              <a:buAutoNum type="arabicPeriod"/>
            </a:pPr>
            <a:r>
              <a:rPr lang="en-US"/>
              <a:t>Close the Q4 books by January 15</a:t>
            </a:r>
          </a:p>
          <a:p>
            <a:pPr>
              <a:buNone/>
            </a:pPr>
            <a:r>
              <a:rPr lang="en-US"/>
              <a:t>Owner: finance team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00800"/>
            <a:ext cx="7315200" cy="914400"/>
          </a:xfrm>
        </p:spPr>
        <p:txBody>
          <a:bodyPr/>
          <a:lstStyle/>
          <a:p>
            <a:r>
              <a:rPr lang="en-US"/>
              <a:t>Example Widgets Inc. | Internal review draft</a:t>
            </a:r>
          </a:p>
        </p:txBody>
      </p:sp>
      <p:sp>
        <p:nvSpPr>
          <p:cNvPr id="46" name="Slide Number"/>
          <p:cNvSpPr/>
          <p:nvPr>
            <p:ph type="sldNum" idx="12"/>
          </p:nvPr>
        </p:nvSpPr>
        <p:spPr>
          <a:xfrm>
            <a:off x="8229600" y="6400800"/>
            <a:ext cx="914400" cy="457200"/>
          </a:xfrm>
        </p:spPr>
        <p:txBody>
          <a:bodyPr/>
          <a:lstStyle/>
          <a:p>
            <a:fld id="{00000000-0000-0000-0000-000000000002}" type="slidenum">
              <a:t>12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Quarterly Review Q3 2026</dc:title>
  <dc:creator>Example Widgets Inc.</dc:creator>
  <dcterms:created xsi:type="dcterms:W3CDTF">2026-01-01T00:00:00Z</dcterms:created>
</cp:coreProperties>
</file>